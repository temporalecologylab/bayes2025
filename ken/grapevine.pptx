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4" r:id="rId4"/>
    <p:sldId id="276" r:id="rId5"/>
    <p:sldId id="278" r:id="rId6"/>
    <p:sldId id="280" r:id="rId7"/>
    <p:sldId id="279" r:id="rId8"/>
    <p:sldId id="281" r:id="rId9"/>
    <p:sldId id="282" r:id="rId10"/>
    <p:sldId id="283" r:id="rId11"/>
    <p:sldId id="284" r:id="rId12"/>
    <p:sldId id="271" r:id="rId13"/>
    <p:sldId id="285" r:id="rId14"/>
    <p:sldId id="286" r:id="rId15"/>
    <p:sldId id="294" r:id="rId16"/>
    <p:sldId id="287" r:id="rId17"/>
    <p:sldId id="260" r:id="rId18"/>
    <p:sldId id="288" r:id="rId19"/>
    <p:sldId id="261" r:id="rId20"/>
    <p:sldId id="292" r:id="rId21"/>
    <p:sldId id="291" r:id="rId22"/>
    <p:sldId id="29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4078" autoAdjust="0"/>
  </p:normalViewPr>
  <p:slideViewPr>
    <p:cSldViewPr snapToGrid="0">
      <p:cViewPr varScale="1">
        <p:scale>
          <a:sx n="98" d="100"/>
          <a:sy n="98" d="100"/>
        </p:scale>
        <p:origin x="960" y="90"/>
      </p:cViewPr>
      <p:guideLst/>
    </p:cSldViewPr>
  </p:slideViewPr>
  <p:outlineViewPr>
    <p:cViewPr>
      <p:scale>
        <a:sx n="33" d="100"/>
        <a:sy n="33" d="100"/>
      </p:scale>
      <p:origin x="0" y="-162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47869-FA9D-4639-8FF2-D3F63427B529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95283-C1F4-4B84-B511-4CE3E266EE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256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grapevine phenological stages include budburst, flowering, </a:t>
            </a:r>
            <a:r>
              <a:rPr lang="en-US" dirty="0" err="1"/>
              <a:t>veraison</a:t>
            </a:r>
            <a:r>
              <a:rPr lang="en-US" dirty="0"/>
              <a:t>, and maturity/harvest. Maturity is very variable though as it depends a lot on the wine end product, variety, and preference. The other stages may also refer broadly over a growing period spanning multiple BBCH stages.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95283-C1F4-4B84-B511-4CE3E266EEAF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3864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0003B-26D1-F76D-C1DB-A89D4DD1B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5C60C-7816-F5BF-9840-A25B8FC74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28E5F-FA88-A5A0-3F5C-BFE2C2115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AD823-8C0F-89C6-28B4-C58FA502F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95283-C1F4-4B84-B511-4CE3E266EEAF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2092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FE05B-7868-A808-398E-3DCE072F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225F4-57E0-C03F-86C6-A057A0877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D40B2-58FF-5484-CE6E-27C1F7391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Parker et al., 2011; Parker et al., 2013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6D232-D3A4-6F8B-1153-E85488612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95283-C1F4-4B84-B511-4CE3E266EEAF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8412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AC831-2C34-C7C8-6547-0C25CD5C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5EDF8-0AE0-C4FC-D8CD-4E3E51C19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5FCF5-4F8A-6B87-75D2-FBDFB1B8D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Moralles-Castilla et al., 2020, Wang &amp; Engel, 1998</a:t>
            </a:r>
          </a:p>
          <a:p>
            <a:endParaRPr lang="en-US" dirty="0"/>
          </a:p>
          <a:p>
            <a:r>
              <a:rPr lang="en-CA" dirty="0" err="1"/>
              <a:t>Tmin</a:t>
            </a:r>
            <a:r>
              <a:rPr lang="en-CA" dirty="0"/>
              <a:t> = 0, </a:t>
            </a:r>
            <a:r>
              <a:rPr lang="en-CA" dirty="0" err="1"/>
              <a:t>Tmax</a:t>
            </a:r>
            <a:r>
              <a:rPr lang="en-CA" dirty="0"/>
              <a:t> = 40, </a:t>
            </a:r>
            <a:r>
              <a:rPr lang="en-CA" dirty="0" err="1"/>
              <a:t>Topt</a:t>
            </a:r>
            <a:r>
              <a:rPr lang="en-CA" dirty="0"/>
              <a:t> = 20, 30, 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BEBC2-8B98-39A0-7AD0-580FFA53E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95283-C1F4-4B84-B511-4CE3E266EEAF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5472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14C0-CC45-5BD2-C77D-D081E827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C74A4-1A9F-6F68-16B0-949B7B10B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6E353-BFA3-2B80-B811-C56B17C79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Moralles-Castilla et al., 2020, Wang &amp; Engel, 1998</a:t>
            </a:r>
          </a:p>
          <a:p>
            <a:endParaRPr lang="en-US" dirty="0"/>
          </a:p>
          <a:p>
            <a:r>
              <a:rPr lang="en-CA" dirty="0" err="1"/>
              <a:t>Tmin</a:t>
            </a:r>
            <a:r>
              <a:rPr lang="en-CA" dirty="0"/>
              <a:t> = 0, </a:t>
            </a:r>
            <a:r>
              <a:rPr lang="en-CA" dirty="0" err="1"/>
              <a:t>Tmax</a:t>
            </a:r>
            <a:r>
              <a:rPr lang="en-CA" dirty="0"/>
              <a:t> = 40, </a:t>
            </a:r>
            <a:r>
              <a:rPr lang="en-CA" dirty="0" err="1"/>
              <a:t>Topt</a:t>
            </a:r>
            <a:r>
              <a:rPr lang="en-CA" dirty="0"/>
              <a:t> = 20, 30, 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6E656-DF11-6173-4B57-FCDE5F4C1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95283-C1F4-4B84-B511-4CE3E266EEAF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9994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BA898-0AC9-FF50-DE46-E8BA1449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226BD-07EB-9724-87F9-C8442FEDE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CA8AF-06A6-1AB7-BD05-489DCFA36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Betancourt, 2022</a:t>
            </a:r>
          </a:p>
          <a:p>
            <a:endParaRPr lang="en-US" dirty="0"/>
          </a:p>
          <a:p>
            <a:r>
              <a:rPr lang="en-CA" dirty="0"/>
              <a:t>S(t = 0) = 1, S(t -&gt; inf) =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6D9D1-3447-9405-9B22-81DF820E9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95283-C1F4-4B84-B511-4CE3E266EEAF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1215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4E46C-D103-86CF-1269-70CBC0B8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350DB-BA7A-D380-E636-75C035252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7E079-5994-BA38-21A5-AC685DC9C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Betancourt, 2022</a:t>
            </a:r>
          </a:p>
          <a:p>
            <a:endParaRPr lang="en-US" dirty="0"/>
          </a:p>
          <a:p>
            <a:r>
              <a:rPr lang="en-CA" dirty="0"/>
              <a:t>S(t = 0) = 1, S(t -&gt; inf) =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79FC2-72DF-6D6A-F656-F8C3ABD31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95283-C1F4-4B84-B511-4CE3E266EEAF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8032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CE2B-86FF-9F0B-1444-77BE3210B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37E33-8557-99EC-D047-9C8039D56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D9CD9-CBA2-0654-2FAD-A1FBA71F3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Betancourt,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94C0E-03E9-F63E-8879-4AC25D808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95283-C1F4-4B84-B511-4CE3E266EEAF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493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A3D0C-B5FC-9497-0FEE-A461443E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0FEC2-952F-FD76-A6D1-4F01FBB3F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148A6-5F8F-DB59-80E6-5874D1F63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Betancourt,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9EFC9-583C-A7BB-A92B-2D90F25E1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95283-C1F4-4B84-B511-4CE3E266EEAF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7202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C63C8-A687-0273-68BC-1E31E115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5757C-79FD-8EC3-33F0-28E7A44AB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5A665-13AB-5430-50CE-116634BB3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Betancourt, 2022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A35E9-30B8-8FBE-377E-323D70111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95283-C1F4-4B84-B511-4CE3E266EEAF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0782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Betancourt, 2022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95283-C1F4-4B84-B511-4CE3E266EEAF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9254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95283-C1F4-4B84-B511-4CE3E266EEAF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2369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DEE1-1738-6E6D-2132-600F3C7DB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6E69F-35E4-3EA8-D1E0-B4B18B875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02DCE-8FE5-6EBE-6676-248801D7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D75F-36D5-42D7-A4EA-FFDBD381D487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A484E-1129-608C-72D7-93A14211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EFFF9-2D9A-2FC7-89A3-CFBC14B5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49425-A9A0-4456-884B-34F7114F12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166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5418-1E1A-E70B-EE01-F1661624E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54A8C-7363-5A6D-7E1A-75685EE41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53813-FA28-8765-4A61-F66F7FEFE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D75F-36D5-42D7-A4EA-FFDBD381D487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1E53E-2238-CAB8-4A81-E356E6495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74C0-E611-4E46-C1D1-32C55B3B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49425-A9A0-4456-884B-34F7114F12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799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C0927-9448-6642-62F2-25EA899BD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0E033-18CA-CEB0-B060-C4944375E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75094-1507-F362-D2E6-F8B889F89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D75F-36D5-42D7-A4EA-FFDBD381D487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B0D5B-0D57-4B7F-7FBB-602AD0DC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FC3CC-8A65-EC6B-9910-712BCAF9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49425-A9A0-4456-884B-34F7114F12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105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88CAC-F9E8-DDF9-F98E-F5AF4184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065E3-1B14-49B7-9497-D1C1C97DE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90141-892E-C0CB-A08F-6021D43E0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1366D-3C84-A9D4-E8C8-FA2B5A85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D75F-36D5-42D7-A4EA-FFDBD381D487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F825D-352E-B8C7-ADD8-F5BF1B9E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B94F7-3D1C-E98E-3E59-2AA455E8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49425-A9A0-4456-884B-34F7114F12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557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9F0B-C507-A291-0758-FF8005D6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57794-1993-65BB-61D5-6D87C03BA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01AF8-1C8E-518F-FFC4-9388B9E0A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53857-56C9-DD2F-4BD1-00C4F2CD7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F532B-04D1-137C-F660-2256B6993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49693D-C624-B784-D28C-084D2AD3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D75F-36D5-42D7-A4EA-FFDBD381D487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2A245-B38F-CE48-6737-A2B8CB51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59C29-93AC-9474-70C2-83F493484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49425-A9A0-4456-884B-34F7114F12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146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A286A-DC74-B6F7-1BDA-5E185539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512B8-2D1E-9DAF-55FC-4ED54DA2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D75F-36D5-42D7-A4EA-FFDBD381D487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A0232-FD7A-D0C9-D49F-8E59FF9CD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D6170-0730-C0B9-A464-E73F8E74A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49425-A9A0-4456-884B-34F7114F12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675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7126B7-CF0A-91A9-ABD4-D1481B7BB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D75F-36D5-42D7-A4EA-FFDBD381D487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DAC6A4-E176-9903-9886-3490AD92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4976C-B988-9352-DB88-D56B1C0F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49425-A9A0-4456-884B-34F7114F12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233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DD59-5667-C2F3-1181-26F02816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C9848-6175-EAD2-9CAC-420CB05EF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580E1-955C-B9A8-79D9-C13CA9E9E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1992C-8AC5-E197-7793-1D5B560E2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D75F-36D5-42D7-A4EA-FFDBD381D487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9396A-EB42-471A-7162-CDE6BCB42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4F82D-7024-60F6-BD6D-3D2BFF3AA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49425-A9A0-4456-884B-34F7114F12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2161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2B5C-F95D-864C-F5A8-435597C1F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E7EB0-BD84-53B0-EFEB-C8F4E0D64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3E609-7F71-20A5-A6CB-670B99BC4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C7B00-097E-4EF4-C56B-9319E060F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D75F-36D5-42D7-A4EA-FFDBD381D487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9780D-62D7-4A27-8E51-F256CFEDF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37E6A-0A8E-1E8B-23D4-E22E3790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49425-A9A0-4456-884B-34F7114F12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133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E01E-4B45-44EC-BFE0-AF6C122DB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94164-D3C2-93B0-49F5-B771A20EE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970BF-CC49-609E-A0AB-DA3E624A0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D75F-36D5-42D7-A4EA-FFDBD381D487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89F3C-3AEA-9CA6-2852-75B7BF3F7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82D7E-97D2-0D56-9BBD-28010945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49425-A9A0-4456-884B-34F7114F12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5957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3AA13D-616C-69C9-ED54-29D048DFE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2E5A3-16EE-AE61-3E4C-F4E500891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DFAA5-4FDE-AE0D-03E6-923A15197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D75F-36D5-42D7-A4EA-FFDBD381D487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E4D95-0EA6-F7C0-15C8-621E9897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CA65C-4797-3386-550F-611A8C354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49425-A9A0-4456-884B-34F7114F12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142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1AFC1C-8D5D-3CD5-4656-32DABBE66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6C96B-7D78-4EB8-ECC5-2ECC960CF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EB26B-5940-E6A0-1D64-7DFE0937A4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FD75F-36D5-42D7-A4EA-FFDBD381D487}" type="datetimeFigureOut">
              <a:rPr lang="en-CA" smtClean="0"/>
              <a:t>2025-12-08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3370F-6162-5D35-E582-C8BD5ED54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A3145-3364-1F1A-5BAF-3C403FBA4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49425-A9A0-4456-884B-34F7114F12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865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765C-D930-AD69-B878-B328E7820A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Grapevine Phenology Modeling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CAB14-DE21-59E7-3778-49E5DBA4C9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Ken Michiko Samson</a:t>
            </a:r>
          </a:p>
          <a:p>
            <a:r>
              <a:rPr lang="en-US" dirty="0"/>
              <a:t>8 December 2025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29016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D8B35-4B2C-B6D1-9FD2-971F0A737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grapevine growing stages</a:t>
            </a:r>
            <a:endParaRPr lang="en-CA" dirty="0"/>
          </a:p>
        </p:txBody>
      </p:sp>
      <p:pic>
        <p:nvPicPr>
          <p:cNvPr id="1026" name="Picture 2" descr="27-1-3 on 3-25sm">
            <a:extLst>
              <a:ext uri="{FF2B5EF4-FFF2-40B4-BE49-F238E27FC236}">
                <a16:creationId xmlns:a16="http://schemas.microsoft.com/office/drawing/2014/main" id="{4B777B3E-AA86-27EC-1856-06243556C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808" y="1498680"/>
            <a:ext cx="2188233" cy="205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named">
            <a:extLst>
              <a:ext uri="{FF2B5EF4-FFF2-40B4-BE49-F238E27FC236}">
                <a16:creationId xmlns:a16="http://schemas.microsoft.com/office/drawing/2014/main" id="{620606B0-8126-F3EC-0B83-5327FF0CF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879" y="1498680"/>
            <a:ext cx="2057720" cy="205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F44BFC2-88C9-01D0-3FF6-CC24E8367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159" y="4252822"/>
            <a:ext cx="2057720" cy="205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61722C-8588-1162-A81D-0EE1AB680AD7}"/>
              </a:ext>
            </a:extLst>
          </p:cNvPr>
          <p:cNvCxnSpPr>
            <a:cxnSpLocks/>
          </p:cNvCxnSpPr>
          <p:nvPr/>
        </p:nvCxnSpPr>
        <p:spPr>
          <a:xfrm>
            <a:off x="577970" y="2527540"/>
            <a:ext cx="304283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AF5595-22E4-5DD4-AB3C-4A8EE585BF5D}"/>
              </a:ext>
            </a:extLst>
          </p:cNvPr>
          <p:cNvSpPr txBox="1"/>
          <p:nvPr/>
        </p:nvSpPr>
        <p:spPr>
          <a:xfrm>
            <a:off x="1410869" y="2820927"/>
            <a:ext cx="1219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Dormancy</a:t>
            </a:r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9EA885-1997-D6AB-E728-55E277EBCF12}"/>
              </a:ext>
            </a:extLst>
          </p:cNvPr>
          <p:cNvSpPr txBox="1"/>
          <p:nvPr/>
        </p:nvSpPr>
        <p:spPr>
          <a:xfrm>
            <a:off x="4164324" y="3556400"/>
            <a:ext cx="1101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Budburst</a:t>
            </a:r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F50580-BD16-5FEA-2C43-943E17D9682F}"/>
              </a:ext>
            </a:extLst>
          </p:cNvPr>
          <p:cNvSpPr txBox="1"/>
          <p:nvPr/>
        </p:nvSpPr>
        <p:spPr>
          <a:xfrm>
            <a:off x="8997965" y="3556400"/>
            <a:ext cx="1765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Flowering (50%)</a:t>
            </a:r>
            <a:endParaRPr lang="en-CA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DFC737-5C9D-6028-BA15-8C046F2E3A12}"/>
              </a:ext>
            </a:extLst>
          </p:cNvPr>
          <p:cNvCxnSpPr>
            <a:cxnSpLocks/>
          </p:cNvCxnSpPr>
          <p:nvPr/>
        </p:nvCxnSpPr>
        <p:spPr>
          <a:xfrm>
            <a:off x="5809041" y="2527540"/>
            <a:ext cx="304283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751E63-E4EB-357C-F43E-B8B5CBE26EFD}"/>
              </a:ext>
            </a:extLst>
          </p:cNvPr>
          <p:cNvSpPr txBox="1"/>
          <p:nvPr/>
        </p:nvSpPr>
        <p:spPr>
          <a:xfrm>
            <a:off x="6991220" y="6310542"/>
            <a:ext cx="1663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Veraison</a:t>
            </a:r>
            <a:r>
              <a:rPr lang="en-US" dirty="0"/>
              <a:t> (50%)</a:t>
            </a:r>
            <a:endParaRPr lang="en-CA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66940B-AB10-B69C-F402-D75CF0D00AB7}"/>
              </a:ext>
            </a:extLst>
          </p:cNvPr>
          <p:cNvCxnSpPr>
            <a:cxnSpLocks/>
          </p:cNvCxnSpPr>
          <p:nvPr/>
        </p:nvCxnSpPr>
        <p:spPr>
          <a:xfrm flipH="1">
            <a:off x="577970" y="5341508"/>
            <a:ext cx="6208972" cy="1781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77E69C3-0555-1EA0-E06D-A2835FB547C3}"/>
              </a:ext>
            </a:extLst>
          </p:cNvPr>
          <p:cNvCxnSpPr>
            <a:cxnSpLocks/>
            <a:stCxn id="1028" idx="3"/>
          </p:cNvCxnSpPr>
          <p:nvPr/>
        </p:nvCxnSpPr>
        <p:spPr>
          <a:xfrm flipH="1">
            <a:off x="8851879" y="2527540"/>
            <a:ext cx="2057720" cy="2831780"/>
          </a:xfrm>
          <a:prstGeom prst="bentConnector4">
            <a:avLst>
              <a:gd name="adj1" fmla="val -11109"/>
              <a:gd name="adj2" fmla="val 99543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DB7D19-9885-9A11-6863-9406797772A2}"/>
              </a:ext>
            </a:extLst>
          </p:cNvPr>
          <p:cNvSpPr txBox="1"/>
          <p:nvPr/>
        </p:nvSpPr>
        <p:spPr>
          <a:xfrm>
            <a:off x="1281473" y="5468278"/>
            <a:ext cx="4964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Maturity (determined usually by sugar content, very variable by variety and preference)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3717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C8F80-05C4-5982-661E-E30B49CE9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unnamed">
            <a:extLst>
              <a:ext uri="{FF2B5EF4-FFF2-40B4-BE49-F238E27FC236}">
                <a16:creationId xmlns:a16="http://schemas.microsoft.com/office/drawing/2014/main" id="{0CBE9EF6-67CB-A907-A4F9-51F66B693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879" y="1498680"/>
            <a:ext cx="2057720" cy="205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B138E05-A1EF-6C54-C710-89BC6E914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159" y="4252822"/>
            <a:ext cx="2057720" cy="205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B8E3EB-F7BD-2852-5F1C-1BAFFB4916DC}"/>
              </a:ext>
            </a:extLst>
          </p:cNvPr>
          <p:cNvSpPr txBox="1"/>
          <p:nvPr/>
        </p:nvSpPr>
        <p:spPr>
          <a:xfrm>
            <a:off x="8997965" y="3556400"/>
            <a:ext cx="1765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Flowering (50%)</a:t>
            </a:r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C37121-6EC9-5564-BEF4-8D6A860791F8}"/>
              </a:ext>
            </a:extLst>
          </p:cNvPr>
          <p:cNvSpPr txBox="1"/>
          <p:nvPr/>
        </p:nvSpPr>
        <p:spPr>
          <a:xfrm>
            <a:off x="6991220" y="6310542"/>
            <a:ext cx="1663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Veraison</a:t>
            </a:r>
            <a:r>
              <a:rPr lang="en-US" dirty="0"/>
              <a:t> (50%)</a:t>
            </a:r>
            <a:endParaRPr lang="en-CA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4787C12-FCC6-B4CE-37D4-41C76D340417}"/>
              </a:ext>
            </a:extLst>
          </p:cNvPr>
          <p:cNvCxnSpPr>
            <a:cxnSpLocks/>
            <a:stCxn id="1028" idx="3"/>
          </p:cNvCxnSpPr>
          <p:nvPr/>
        </p:nvCxnSpPr>
        <p:spPr>
          <a:xfrm flipH="1">
            <a:off x="8851879" y="2527540"/>
            <a:ext cx="2057720" cy="2831780"/>
          </a:xfrm>
          <a:prstGeom prst="bentConnector4">
            <a:avLst>
              <a:gd name="adj1" fmla="val -11109"/>
              <a:gd name="adj2" fmla="val 99543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06EE465-EDD1-84A0-1398-962C7D5B1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636" y="3298000"/>
            <a:ext cx="5336516" cy="31972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04A26A-4B70-D0F6-222E-7B7C599D24E6}"/>
              </a:ext>
            </a:extLst>
          </p:cNvPr>
          <p:cNvSpPr txBox="1"/>
          <p:nvPr/>
        </p:nvSpPr>
        <p:spPr>
          <a:xfrm>
            <a:off x="920148" y="649978"/>
            <a:ext cx="72514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Growth from flowering to </a:t>
            </a:r>
            <a:r>
              <a:rPr lang="en-US" sz="2400" dirty="0" err="1"/>
              <a:t>veraison</a:t>
            </a:r>
            <a:r>
              <a:rPr lang="en-US" sz="2400" dirty="0"/>
              <a:t> usually experience the highest temperatures (usually from May to September) (France data below)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Global warming may affect this stage most by driving temperatures above an assumed maximum temperature for growth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76375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8EF67-BE28-C8CF-D8FA-572170C7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unnamed">
            <a:extLst>
              <a:ext uri="{FF2B5EF4-FFF2-40B4-BE49-F238E27FC236}">
                <a16:creationId xmlns:a16="http://schemas.microsoft.com/office/drawing/2014/main" id="{9964C019-66E9-3B4B-E975-323AF99E2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879" y="1498680"/>
            <a:ext cx="2057720" cy="205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FFEC885-EC98-FBC5-3B4D-237994031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159" y="4252822"/>
            <a:ext cx="2057720" cy="205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A0C3FB-BEA6-8C49-2C41-2466BE17739C}"/>
              </a:ext>
            </a:extLst>
          </p:cNvPr>
          <p:cNvSpPr txBox="1"/>
          <p:nvPr/>
        </p:nvSpPr>
        <p:spPr>
          <a:xfrm>
            <a:off x="8997965" y="3556400"/>
            <a:ext cx="1765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Flowering (50%)</a:t>
            </a:r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B3A97C-41F4-291C-4E31-1B7B728F9AFD}"/>
              </a:ext>
            </a:extLst>
          </p:cNvPr>
          <p:cNvSpPr txBox="1"/>
          <p:nvPr/>
        </p:nvSpPr>
        <p:spPr>
          <a:xfrm>
            <a:off x="6991220" y="6310542"/>
            <a:ext cx="1663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Veraison</a:t>
            </a:r>
            <a:r>
              <a:rPr lang="en-US" dirty="0"/>
              <a:t> (50%)</a:t>
            </a:r>
            <a:endParaRPr lang="en-CA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8EB873B-20D5-CF2E-804F-D699006A2CDC}"/>
              </a:ext>
            </a:extLst>
          </p:cNvPr>
          <p:cNvCxnSpPr>
            <a:cxnSpLocks/>
            <a:stCxn id="1028" idx="3"/>
          </p:cNvCxnSpPr>
          <p:nvPr/>
        </p:nvCxnSpPr>
        <p:spPr>
          <a:xfrm flipH="1">
            <a:off x="8851879" y="2527540"/>
            <a:ext cx="2057720" cy="2831780"/>
          </a:xfrm>
          <a:prstGeom prst="bentConnector4">
            <a:avLst>
              <a:gd name="adj1" fmla="val -11109"/>
              <a:gd name="adj2" fmla="val 99543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62FEC384-DEBB-29D2-1955-0B256FA1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Grapevine Flowering </a:t>
            </a:r>
            <a:r>
              <a:rPr lang="en-US" dirty="0" err="1"/>
              <a:t>Veraison</a:t>
            </a:r>
            <a:r>
              <a:rPr lang="en-US" dirty="0"/>
              <a:t> (GFV model)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937E6B-69CF-062D-3B4F-EC7AEC5815D8}"/>
              </a:ext>
            </a:extLst>
          </p:cNvPr>
          <p:cNvSpPr txBox="1"/>
          <p:nvPr/>
        </p:nvSpPr>
        <p:spPr>
          <a:xfrm>
            <a:off x="923240" y="1448261"/>
            <a:ext cx="72514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Based on daily thermal sums or ‘forcing’ (e.g. Growing Degree Days) with given base temperature (Tb) and mean temperatures (T)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GDD = max(T – Tb, 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Start date is set at DOY (Day of Year) 60 instead of DOY of flowering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Variety-specific accumulated forcing thresholds are optimized with the Tb and start date</a:t>
            </a:r>
          </a:p>
        </p:txBody>
      </p:sp>
    </p:spTree>
    <p:extLst>
      <p:ext uri="{BB962C8B-B14F-4D97-AF65-F5344CB8AC3E}">
        <p14:creationId xmlns:p14="http://schemas.microsoft.com/office/powerpoint/2010/main" val="3415397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071FA-D34E-F03B-CBA2-4258CA637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unnamed">
            <a:extLst>
              <a:ext uri="{FF2B5EF4-FFF2-40B4-BE49-F238E27FC236}">
                <a16:creationId xmlns:a16="http://schemas.microsoft.com/office/drawing/2014/main" id="{E04D29DA-2EC4-336D-BF25-73BC059DB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879" y="1498680"/>
            <a:ext cx="2057720" cy="205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4A04B6B-861B-A369-77C8-9EF83B1B7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159" y="4252822"/>
            <a:ext cx="2057720" cy="205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F25A57-2FD9-2ADD-DE9D-7928A6133834}"/>
              </a:ext>
            </a:extLst>
          </p:cNvPr>
          <p:cNvSpPr txBox="1"/>
          <p:nvPr/>
        </p:nvSpPr>
        <p:spPr>
          <a:xfrm>
            <a:off x="8997965" y="3556400"/>
            <a:ext cx="1765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Flowering (50%)</a:t>
            </a:r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39BF17-DE08-5003-7DDA-C11FEEC64DAF}"/>
              </a:ext>
            </a:extLst>
          </p:cNvPr>
          <p:cNvSpPr txBox="1"/>
          <p:nvPr/>
        </p:nvSpPr>
        <p:spPr>
          <a:xfrm>
            <a:off x="6991220" y="6310542"/>
            <a:ext cx="1663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Veraison</a:t>
            </a:r>
            <a:r>
              <a:rPr lang="en-US" dirty="0"/>
              <a:t> (50%)</a:t>
            </a:r>
            <a:endParaRPr lang="en-CA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B8E69AE-6E0B-535F-1EDE-2CCD02073396}"/>
              </a:ext>
            </a:extLst>
          </p:cNvPr>
          <p:cNvCxnSpPr>
            <a:cxnSpLocks/>
            <a:stCxn id="1028" idx="3"/>
          </p:cNvCxnSpPr>
          <p:nvPr/>
        </p:nvCxnSpPr>
        <p:spPr>
          <a:xfrm flipH="1">
            <a:off x="8851879" y="2527540"/>
            <a:ext cx="2057720" cy="2831780"/>
          </a:xfrm>
          <a:prstGeom prst="bentConnector4">
            <a:avLst>
              <a:gd name="adj1" fmla="val -11109"/>
              <a:gd name="adj2" fmla="val 99543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54666396-5C94-C1FF-622A-E9F155D7A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Wang &amp; Engel (WE)-based model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9694D-DEF0-BA61-BD7C-A327A93B05EB}"/>
              </a:ext>
            </a:extLst>
          </p:cNvPr>
          <p:cNvSpPr txBox="1"/>
          <p:nvPr/>
        </p:nvSpPr>
        <p:spPr>
          <a:xfrm>
            <a:off x="923240" y="1448261"/>
            <a:ext cx="72514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Based on forcing as calculated by the WE model with three parameters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Tmin</a:t>
            </a:r>
            <a:r>
              <a:rPr lang="en-US" sz="2400" dirty="0"/>
              <a:t> – temperature below which forcing is 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Tmax</a:t>
            </a:r>
            <a:r>
              <a:rPr lang="en-US" sz="2400" dirty="0"/>
              <a:t> – temperature above which forcing is 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Topt</a:t>
            </a:r>
            <a:r>
              <a:rPr lang="en-US" sz="2400" dirty="0"/>
              <a:t> – temperature where forcing is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FDA54E-5E26-555D-25F0-2C7357805C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474035"/>
            <a:ext cx="4734464" cy="283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54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34D1B-BD0F-CA3E-5515-529DBA03E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unnamed">
            <a:extLst>
              <a:ext uri="{FF2B5EF4-FFF2-40B4-BE49-F238E27FC236}">
                <a16:creationId xmlns:a16="http://schemas.microsoft.com/office/drawing/2014/main" id="{2BAE7BCF-A549-77C3-F377-7F6FD44AE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879" y="1498680"/>
            <a:ext cx="2057720" cy="205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0835A6A-06AA-48BE-590F-18DD0D122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159" y="4252822"/>
            <a:ext cx="2057720" cy="205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95F815-BFF7-118F-AAFE-3C6ED5B51AB8}"/>
              </a:ext>
            </a:extLst>
          </p:cNvPr>
          <p:cNvSpPr txBox="1"/>
          <p:nvPr/>
        </p:nvSpPr>
        <p:spPr>
          <a:xfrm>
            <a:off x="8997965" y="3556400"/>
            <a:ext cx="1765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Flowering (50%)</a:t>
            </a:r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97F8C9-783E-921C-926F-F148B23E7BE0}"/>
              </a:ext>
            </a:extLst>
          </p:cNvPr>
          <p:cNvSpPr txBox="1"/>
          <p:nvPr/>
        </p:nvSpPr>
        <p:spPr>
          <a:xfrm>
            <a:off x="6991220" y="6310542"/>
            <a:ext cx="1663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Veraison</a:t>
            </a:r>
            <a:r>
              <a:rPr lang="en-US" dirty="0"/>
              <a:t> (50%)</a:t>
            </a:r>
            <a:endParaRPr lang="en-CA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CDEE647-54FF-18BA-6438-65DC346A8774}"/>
              </a:ext>
            </a:extLst>
          </p:cNvPr>
          <p:cNvCxnSpPr>
            <a:cxnSpLocks/>
            <a:stCxn id="1028" idx="3"/>
          </p:cNvCxnSpPr>
          <p:nvPr/>
        </p:nvCxnSpPr>
        <p:spPr>
          <a:xfrm flipH="1">
            <a:off x="8851879" y="2527540"/>
            <a:ext cx="2057720" cy="2831780"/>
          </a:xfrm>
          <a:prstGeom prst="bentConnector4">
            <a:avLst>
              <a:gd name="adj1" fmla="val -11109"/>
              <a:gd name="adj2" fmla="val 99543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5AB8B126-674F-D56D-F78F-56430CB0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Wang &amp; Engel (WE)-based model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62910-A7E2-42BF-4EF6-0E76174BFC8C}"/>
              </a:ext>
            </a:extLst>
          </p:cNvPr>
          <p:cNvSpPr txBox="1"/>
          <p:nvPr/>
        </p:nvSpPr>
        <p:spPr>
          <a:xfrm>
            <a:off x="923240" y="1448261"/>
            <a:ext cx="72514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More physiologically-realistic; growth decreases with higher temperature e.g. no growth at 800 </a:t>
            </a:r>
            <a:r>
              <a:rPr lang="en-US" sz="2400" dirty="0" err="1"/>
              <a:t>degC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Accumulated forcing from flowering to </a:t>
            </a:r>
            <a:r>
              <a:rPr lang="en-US" sz="2400" dirty="0" err="1"/>
              <a:t>veraison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Thresholds are still variety-specific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4273F9-585A-4111-A407-43109761C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474035"/>
            <a:ext cx="4734464" cy="283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05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E9504-E914-3879-828B-B2C7D8FD6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C78EF-1436-6597-FC66-AC04BA8E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Modeling changes in phenological stages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513FD-0DCE-3975-547E-B3D99E17A9A9}"/>
              </a:ext>
            </a:extLst>
          </p:cNvPr>
          <p:cNvSpPr txBox="1"/>
          <p:nvPr/>
        </p:nvSpPr>
        <p:spPr>
          <a:xfrm>
            <a:off x="923240" y="1448261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Presented GFV and WE-based models are developed by optimizing parameters using Efficiency (EF) and Root Mean Square Error (RMSE)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Survival models provide a probabilistic approach to changes in stages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Events (e.g. phenological stage transition) occur only once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Driven by accumulation of something (e.g. growth, damage) over 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‘Survival’ comes from application to undesirable events (e.g. death)</a:t>
            </a:r>
          </a:p>
        </p:txBody>
      </p:sp>
      <p:pic>
        <p:nvPicPr>
          <p:cNvPr id="2" name="Picture 1" descr="A diagram of a function&#10;&#10;AI-generated content may be incorrect.">
            <a:extLst>
              <a:ext uri="{FF2B5EF4-FFF2-40B4-BE49-F238E27FC236}">
                <a16:creationId xmlns:a16="http://schemas.microsoft.com/office/drawing/2014/main" id="{2D4F7D41-C502-C211-283F-6D5ECE6B2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68" b="50133"/>
          <a:stretch>
            <a:fillRect/>
          </a:stretch>
        </p:blipFill>
        <p:spPr>
          <a:xfrm>
            <a:off x="4484524" y="3828382"/>
            <a:ext cx="3222951" cy="239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69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F0C7-ADAA-420A-7C8D-AD08C38E4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1C467B-1765-C527-B514-79BB5ACB0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Survival function (S(t))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47AAA-1184-F904-025B-D9F6B7F0134D}"/>
              </a:ext>
            </a:extLst>
          </p:cNvPr>
          <p:cNvSpPr txBox="1"/>
          <p:nvPr/>
        </p:nvSpPr>
        <p:spPr>
          <a:xfrm>
            <a:off x="923240" y="1448261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function giving the probability of survival should never increase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2" name="Picture 1" descr="A diagram of a function&#10;&#10;AI-generated content may be incorrect.">
            <a:extLst>
              <a:ext uri="{FF2B5EF4-FFF2-40B4-BE49-F238E27FC236}">
                <a16:creationId xmlns:a16="http://schemas.microsoft.com/office/drawing/2014/main" id="{A85FE8FF-9F9A-F9E3-B194-BF42E8DF2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68" b="50133"/>
          <a:stretch>
            <a:fillRect/>
          </a:stretch>
        </p:blipFill>
        <p:spPr>
          <a:xfrm>
            <a:off x="3558571" y="2424023"/>
            <a:ext cx="5074857" cy="37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785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4E751-F397-BF9B-50BA-7C4153166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C496C10-D52F-32BD-4CB2-FF5F63CC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Hazard function (lambda(t))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C8E9C-C29C-B001-F5C4-028250A03E5E}"/>
              </a:ext>
            </a:extLst>
          </p:cNvPr>
          <p:cNvSpPr txBox="1"/>
          <p:nvPr/>
        </p:nvSpPr>
        <p:spPr>
          <a:xfrm>
            <a:off x="923240" y="1448261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‘Hazard’ is something that accumulates over time, driving the occurrence of an event</a:t>
            </a:r>
          </a:p>
        </p:txBody>
      </p:sp>
      <p:pic>
        <p:nvPicPr>
          <p:cNvPr id="2" name="Picture 1" descr="A diagram of a function&#10;&#10;AI-generated content may be incorrect.">
            <a:extLst>
              <a:ext uri="{FF2B5EF4-FFF2-40B4-BE49-F238E27FC236}">
                <a16:creationId xmlns:a16="http://schemas.microsoft.com/office/drawing/2014/main" id="{7CA5CDEF-669B-3057-65DB-B36C84C63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" t="117" r="33809" b="50016"/>
          <a:stretch>
            <a:fillRect/>
          </a:stretch>
        </p:blipFill>
        <p:spPr>
          <a:xfrm>
            <a:off x="1136045" y="2279258"/>
            <a:ext cx="9919910" cy="37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58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CF71F-4B9F-B0BF-DB34-CB754B2D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F14B856-022B-131E-4CDD-2CE1A3FA7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Survival model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CF5AD-F8CD-76B4-8668-783BF4A086F4}"/>
              </a:ext>
            </a:extLst>
          </p:cNvPr>
          <p:cNvSpPr txBox="1"/>
          <p:nvPr/>
        </p:nvSpPr>
        <p:spPr>
          <a:xfrm>
            <a:off x="923240" y="1448261"/>
            <a:ext cx="10515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Combining the survival and hazard functions, we get the relationship between the survival function and the cumulated hazard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(I’m not sure if this is a unique relationship given this formulation but it’s certainly convenient for our purposes)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Event density is given as below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phenology, we use lambda = forcing (psi) and Lambda = accumulated forcing (Psi)</a:t>
            </a:r>
          </a:p>
        </p:txBody>
      </p:sp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7450F0A7-C99C-A7DE-1F78-716821B36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971" y="2330922"/>
            <a:ext cx="3096057" cy="543001"/>
          </a:xfrm>
          <a:prstGeom prst="rect">
            <a:avLst/>
          </a:prstGeom>
        </p:spPr>
      </p:pic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698CF18-1CDD-3128-2CFD-88DE8ECB1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391" y="3991403"/>
            <a:ext cx="3877216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68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5006A-3AC3-010E-7391-38222C6E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7F58E6D-1E87-936C-C3F6-F609A1A67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Event density function (pi(t))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7B62C-B6CB-B815-135A-FD366BB42A3E}"/>
              </a:ext>
            </a:extLst>
          </p:cNvPr>
          <p:cNvSpPr txBox="1"/>
          <p:nvPr/>
        </p:nvSpPr>
        <p:spPr>
          <a:xfrm>
            <a:off x="923240" y="1448261"/>
            <a:ext cx="1051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Looking into pi(t) shows why we don’t just use a defined distribution for the accumulated forcing (Psi(t))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Some probability at negative Psi which should not be possible by definition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Events are possible on days when there is no growth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With the survival model, these issues are resolved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Though we added a small base daily forcing as the log density goes to negative infinity if the sampler stumbles on </a:t>
            </a:r>
            <a:r>
              <a:rPr lang="en-US" sz="2400" dirty="0" err="1"/>
              <a:t>Tmin</a:t>
            </a:r>
            <a:r>
              <a:rPr lang="en-US" sz="2400" dirty="0"/>
              <a:t> and </a:t>
            </a:r>
            <a:r>
              <a:rPr lang="en-US" sz="2400" dirty="0" err="1"/>
              <a:t>Tmax</a:t>
            </a:r>
            <a:r>
              <a:rPr lang="en-US" sz="2400" dirty="0"/>
              <a:t> values where some </a:t>
            </a:r>
            <a:r>
              <a:rPr lang="en-US" sz="2400" dirty="0" err="1"/>
              <a:t>veraison</a:t>
            </a:r>
            <a:r>
              <a:rPr lang="en-US" sz="2400" dirty="0"/>
              <a:t> dates have no growth</a:t>
            </a:r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BB0D3BD-4F54-103E-8283-D5F96568E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392" y="4864581"/>
            <a:ext cx="3877216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3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649C-207F-BEB4-CDAB-B50D458C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Smoothed Wang &amp; Engel (SWE) function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24096-DEB6-C96E-7CF2-B1F897F30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315"/>
            <a:ext cx="5257800" cy="4376767"/>
          </a:xfrm>
        </p:spPr>
        <p:txBody>
          <a:bodyPr>
            <a:normAutofit/>
          </a:bodyPr>
          <a:lstStyle/>
          <a:p>
            <a:pPr marL="342900" indent="-342900"/>
            <a:r>
              <a:rPr lang="en-CA" sz="2000" dirty="0"/>
              <a:t>Betancourt derived a modified Wang &amp; Engel with smoothed edges controlled by a parameter (delta)</a:t>
            </a:r>
          </a:p>
          <a:p>
            <a:pPr marL="342900" indent="-342900"/>
            <a:r>
              <a:rPr lang="en-CA" sz="2000" dirty="0"/>
              <a:t>At delta = 0, SWE is very similar to WE</a:t>
            </a:r>
          </a:p>
          <a:p>
            <a:pPr marL="342900" indent="-342900"/>
            <a:r>
              <a:rPr lang="en-CA" sz="2000" dirty="0"/>
              <a:t>Higher delta, more differentiable at </a:t>
            </a:r>
            <a:r>
              <a:rPr lang="en-CA" sz="2000" dirty="0" err="1"/>
              <a:t>Tmin</a:t>
            </a:r>
            <a:r>
              <a:rPr lang="en-CA" sz="2000" dirty="0"/>
              <a:t> and </a:t>
            </a:r>
            <a:r>
              <a:rPr lang="en-CA" sz="2000" dirty="0" err="1"/>
              <a:t>Tmax</a:t>
            </a:r>
            <a:endParaRPr lang="en-CA" sz="2000" dirty="0"/>
          </a:p>
          <a:p>
            <a:pPr marL="342900" indent="-342900"/>
            <a:r>
              <a:rPr lang="en-CA" sz="2000" dirty="0"/>
              <a:t>At fixed parameters, increasing delta decreases forcing over forcing-temperature range</a:t>
            </a:r>
          </a:p>
          <a:p>
            <a:pPr marL="342900" indent="-342900"/>
            <a:r>
              <a:rPr lang="en-US" sz="2000" dirty="0"/>
              <a:t>At fixed delta, increasing the range (</a:t>
            </a:r>
            <a:r>
              <a:rPr lang="en-US" sz="2000" dirty="0" err="1"/>
              <a:t>Tmax</a:t>
            </a:r>
            <a:r>
              <a:rPr lang="en-US" sz="2000" dirty="0"/>
              <a:t> – </a:t>
            </a:r>
            <a:r>
              <a:rPr lang="en-US" sz="2000" dirty="0" err="1"/>
              <a:t>Tmin</a:t>
            </a:r>
            <a:r>
              <a:rPr lang="en-US" sz="2000" dirty="0"/>
              <a:t>) increases forcing</a:t>
            </a:r>
          </a:p>
        </p:txBody>
      </p:sp>
      <p:pic>
        <p:nvPicPr>
          <p:cNvPr id="6" name="Picture 5" descr="A diagram of a curve&#10;&#10;AI-generated content may be incorrect.">
            <a:extLst>
              <a:ext uri="{FF2B5EF4-FFF2-40B4-BE49-F238E27FC236}">
                <a16:creationId xmlns:a16="http://schemas.microsoft.com/office/drawing/2014/main" id="{E1A50BAA-53BB-D418-E850-8BE457E48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025" y="1834092"/>
            <a:ext cx="5926975" cy="363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802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2F0C-13AD-2CD8-B804-99CF34E4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specification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8098C4-7C01-5AF8-580D-8AAF395D1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34" y="2729058"/>
            <a:ext cx="7325747" cy="36104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995293-2592-7C5E-734E-66702A9BB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65" y="1690688"/>
            <a:ext cx="7278116" cy="1038370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C2FD463D-BDFC-58F6-A666-8D82A59E859A}"/>
              </a:ext>
            </a:extLst>
          </p:cNvPr>
          <p:cNvSpPr/>
          <p:nvPr/>
        </p:nvSpPr>
        <p:spPr>
          <a:xfrm>
            <a:off x="8067135" y="2895278"/>
            <a:ext cx="852577" cy="327803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3477404-70D4-4F48-45D5-78437DD8AE75}"/>
              </a:ext>
            </a:extLst>
          </p:cNvPr>
          <p:cNvSpPr/>
          <p:nvPr/>
        </p:nvSpPr>
        <p:spPr>
          <a:xfrm>
            <a:off x="8067134" y="1690689"/>
            <a:ext cx="852577" cy="103837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0DA0D-97E4-A51A-B10B-7D420CB35CD7}"/>
              </a:ext>
            </a:extLst>
          </p:cNvPr>
          <p:cNvSpPr txBox="1"/>
          <p:nvPr/>
        </p:nvSpPr>
        <p:spPr>
          <a:xfrm>
            <a:off x="9266206" y="4072631"/>
            <a:ext cx="20875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SWE (forcing/hazard function)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FF313-295A-FC26-7BDA-0BD16AFA4343}"/>
              </a:ext>
            </a:extLst>
          </p:cNvPr>
          <p:cNvSpPr txBox="1"/>
          <p:nvPr/>
        </p:nvSpPr>
        <p:spPr>
          <a:xfrm>
            <a:off x="9266206" y="2025207"/>
            <a:ext cx="208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Survival model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07013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0584-41D1-A342-1401-0ECCC178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Pooling approaches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68D94-6D4C-3A3D-1C9A-C82723D67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pooling</a:t>
            </a:r>
          </a:p>
          <a:p>
            <a:pPr lvl="1"/>
            <a:r>
              <a:rPr lang="en-CA" dirty="0"/>
              <a:t>6 parameters (</a:t>
            </a:r>
            <a:r>
              <a:rPr lang="en-CA" dirty="0" err="1"/>
              <a:t>Tmin</a:t>
            </a:r>
            <a:r>
              <a:rPr lang="en-CA" dirty="0"/>
              <a:t>, </a:t>
            </a:r>
            <a:r>
              <a:rPr lang="en-CA" dirty="0" err="1"/>
              <a:t>Tmax</a:t>
            </a:r>
            <a:r>
              <a:rPr lang="en-CA" dirty="0"/>
              <a:t>, delta, </a:t>
            </a:r>
            <a:r>
              <a:rPr lang="en-CA" dirty="0" err="1"/>
              <a:t>Topt</a:t>
            </a:r>
            <a:r>
              <a:rPr lang="en-CA" dirty="0"/>
              <a:t>, Psi0, sigma)</a:t>
            </a:r>
          </a:p>
          <a:p>
            <a:r>
              <a:rPr lang="en-CA" dirty="0"/>
              <a:t>No pooling</a:t>
            </a:r>
          </a:p>
          <a:p>
            <a:pPr lvl="1"/>
            <a:r>
              <a:rPr lang="en-CA" dirty="0"/>
              <a:t>3 species-level parameters (</a:t>
            </a:r>
            <a:r>
              <a:rPr lang="en-CA" dirty="0" err="1"/>
              <a:t>Tmin</a:t>
            </a:r>
            <a:r>
              <a:rPr lang="en-CA" dirty="0"/>
              <a:t>, </a:t>
            </a:r>
            <a:r>
              <a:rPr lang="en-CA" dirty="0" err="1"/>
              <a:t>Tmax</a:t>
            </a:r>
            <a:r>
              <a:rPr lang="en-CA" dirty="0"/>
              <a:t>, delta)</a:t>
            </a:r>
          </a:p>
          <a:p>
            <a:pPr lvl="1"/>
            <a:r>
              <a:rPr lang="en-CA" dirty="0"/>
              <a:t>3 parameters each by variety (</a:t>
            </a:r>
            <a:r>
              <a:rPr lang="en-CA" dirty="0" err="1"/>
              <a:t>Topt</a:t>
            </a:r>
            <a:r>
              <a:rPr lang="en-CA" dirty="0"/>
              <a:t>, Psi0, sigma)</a:t>
            </a:r>
          </a:p>
          <a:p>
            <a:r>
              <a:rPr lang="en-CA" dirty="0"/>
              <a:t>Partial pooling</a:t>
            </a:r>
          </a:p>
          <a:p>
            <a:pPr lvl="1"/>
            <a:r>
              <a:rPr lang="en-CA" dirty="0"/>
              <a:t>3 species-level parameters (</a:t>
            </a:r>
            <a:r>
              <a:rPr lang="en-CA" dirty="0" err="1"/>
              <a:t>Tmin</a:t>
            </a:r>
            <a:r>
              <a:rPr lang="en-CA" dirty="0"/>
              <a:t>, </a:t>
            </a:r>
            <a:r>
              <a:rPr lang="en-CA" dirty="0" err="1"/>
              <a:t>Tmax</a:t>
            </a:r>
            <a:r>
              <a:rPr lang="en-CA" dirty="0"/>
              <a:t>, delta)</a:t>
            </a:r>
          </a:p>
          <a:p>
            <a:pPr lvl="1"/>
            <a:r>
              <a:rPr lang="en-CA" dirty="0"/>
              <a:t>3 parameters each by variety (</a:t>
            </a:r>
            <a:r>
              <a:rPr lang="en-CA" dirty="0" err="1"/>
              <a:t>Topt</a:t>
            </a:r>
            <a:r>
              <a:rPr lang="en-CA" dirty="0"/>
              <a:t>, Psi0, sigma)</a:t>
            </a:r>
          </a:p>
          <a:p>
            <a:pPr lvl="1"/>
            <a:r>
              <a:rPr lang="en-CA" dirty="0"/>
              <a:t>6 species-level parameters on (</a:t>
            </a:r>
            <a:r>
              <a:rPr lang="en-CA" dirty="0" err="1"/>
              <a:t>Topt</a:t>
            </a:r>
            <a:r>
              <a:rPr lang="en-CA" dirty="0"/>
              <a:t>, Psi0, sigma)</a:t>
            </a:r>
          </a:p>
          <a:p>
            <a:pPr lvl="1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A5B8F-19BB-BEB5-A9ED-ED76C9E463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63" r="33379"/>
          <a:stretch>
            <a:fillRect/>
          </a:stretch>
        </p:blipFill>
        <p:spPr>
          <a:xfrm>
            <a:off x="8652294" y="4546133"/>
            <a:ext cx="2380891" cy="109552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7A54A1-9CCA-A968-AB27-A28090566FC2}"/>
              </a:ext>
            </a:extLst>
          </p:cNvPr>
          <p:cNvCxnSpPr/>
          <p:nvPr/>
        </p:nvCxnSpPr>
        <p:spPr>
          <a:xfrm flipV="1">
            <a:off x="8108830" y="5262113"/>
            <a:ext cx="690113" cy="2587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894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B019F-00A8-13EF-7CEF-866ADB90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4F95-D825-CCF0-89BA-AEA7439F2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sets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7BB5A-4A91-19C0-8873-EAF2B982A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5234" cy="4351338"/>
          </a:xfrm>
        </p:spPr>
        <p:txBody>
          <a:bodyPr>
            <a:normAutofit/>
          </a:bodyPr>
          <a:lstStyle/>
          <a:p>
            <a:r>
              <a:rPr lang="en-US" sz="2400" dirty="0"/>
              <a:t>5 different priors on </a:t>
            </a:r>
            <a:r>
              <a:rPr lang="en-US" sz="2400" dirty="0" err="1"/>
              <a:t>Tmin</a:t>
            </a:r>
            <a:r>
              <a:rPr lang="en-US" sz="2400" dirty="0"/>
              <a:t> and </a:t>
            </a:r>
            <a:r>
              <a:rPr lang="en-US" sz="2400" dirty="0" err="1"/>
              <a:t>Tmax</a:t>
            </a:r>
            <a:r>
              <a:rPr lang="en-US" sz="2400" dirty="0"/>
              <a:t> (with </a:t>
            </a:r>
            <a:r>
              <a:rPr lang="en-US" sz="2400" dirty="0" err="1"/>
              <a:t>Topt</a:t>
            </a:r>
            <a:r>
              <a:rPr lang="en-US" sz="2400" dirty="0"/>
              <a:t> adjusting to always have 98% probability within 22-32)</a:t>
            </a:r>
          </a:p>
          <a:p>
            <a:r>
              <a:rPr lang="en-US" sz="2400" dirty="0"/>
              <a:t>2 different priors on Psi0 (wide and small)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72AACD9-8CE8-4D11-7B59-7A1CC93A9F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74051"/>
              </p:ext>
            </p:extLst>
          </p:nvPr>
        </p:nvGraphicFramePr>
        <p:xfrm>
          <a:off x="5339751" y="-1"/>
          <a:ext cx="6852249" cy="6852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229600" imgH="8229600" progId="Acrobat.Document.DC">
                  <p:embed/>
                </p:oleObj>
              </mc:Choice>
              <mc:Fallback>
                <p:oleObj name="Acrobat Document" r:id="rId2" imgW="8229600" imgH="822960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39751" y="-1"/>
                        <a:ext cx="6852249" cy="6852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6865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A31A3-1DBF-E440-3F8A-80D5B4E6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model </a:t>
            </a:r>
            <a:r>
              <a:rPr lang="en-US" dirty="0" err="1"/>
              <a:t>behaviour</a:t>
            </a:r>
            <a:r>
              <a:rPr lang="en-US" dirty="0"/>
              <a:t> on simulated data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7B592-2856-8AED-AFBA-1F7C7C8E8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 parameter values according to partial pooling approach</a:t>
            </a:r>
          </a:p>
          <a:p>
            <a:r>
              <a:rPr lang="en-US" dirty="0"/>
              <a:t>Simulated data</a:t>
            </a:r>
          </a:p>
          <a:p>
            <a:pPr lvl="1"/>
            <a:r>
              <a:rPr lang="en-US" dirty="0"/>
              <a:t>Daily temperatures from uniform distribution from 0 to 40 </a:t>
            </a:r>
            <a:r>
              <a:rPr lang="en-US" dirty="0" err="1"/>
              <a:t>degC</a:t>
            </a:r>
            <a:endParaRPr lang="en-US" dirty="0"/>
          </a:p>
          <a:p>
            <a:pPr lvl="1"/>
            <a:r>
              <a:rPr lang="en-US" dirty="0"/>
              <a:t>Flowering from variety-specific distributions (shouldn’t matter though)</a:t>
            </a:r>
          </a:p>
          <a:p>
            <a:pPr lvl="1"/>
            <a:r>
              <a:rPr lang="en-US" dirty="0" err="1"/>
              <a:t>Veraison</a:t>
            </a:r>
            <a:r>
              <a:rPr lang="en-US" dirty="0"/>
              <a:t> from SWE-based threshold</a:t>
            </a:r>
          </a:p>
          <a:p>
            <a:r>
              <a:rPr lang="en-US" dirty="0"/>
              <a:t>Simulated </a:t>
            </a:r>
            <a:r>
              <a:rPr lang="en-US" dirty="0" err="1"/>
              <a:t>veraison</a:t>
            </a:r>
            <a:endParaRPr lang="en-US" dirty="0"/>
          </a:p>
          <a:p>
            <a:pPr lvl="1"/>
            <a:r>
              <a:rPr lang="en-US" dirty="0"/>
              <a:t>Actual temperature and flowering data</a:t>
            </a:r>
          </a:p>
          <a:p>
            <a:pPr lvl="1"/>
            <a:r>
              <a:rPr lang="en-US" dirty="0" err="1"/>
              <a:t>Veraison</a:t>
            </a:r>
            <a:r>
              <a:rPr lang="en-US" dirty="0"/>
              <a:t> simulated from SWE-based threshold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36846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0E2892A-BB90-DE3B-6F79-3BE25C6648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131778"/>
              </p:ext>
            </p:extLst>
          </p:nvPr>
        </p:nvGraphicFramePr>
        <p:xfrm>
          <a:off x="0" y="136525"/>
          <a:ext cx="8614431" cy="4308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583680" imgH="3291840" progId="Acrobat.Document.DC">
                  <p:embed/>
                </p:oleObj>
              </mc:Choice>
              <mc:Fallback>
                <p:oleObj name="Acrobat Document" r:id="rId2" imgW="6583680" imgH="329184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36525"/>
                        <a:ext cx="8614431" cy="4308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EAB4184-1596-F46C-AF17-C79315E632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131934"/>
              </p:ext>
            </p:extLst>
          </p:nvPr>
        </p:nvGraphicFramePr>
        <p:xfrm>
          <a:off x="2469899" y="1995777"/>
          <a:ext cx="9722101" cy="4862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6583680" imgH="3291840" progId="Acrobat.Document.DC">
                  <p:embed/>
                </p:oleObj>
              </mc:Choice>
              <mc:Fallback>
                <p:oleObj name="Acrobat Document" r:id="rId4" imgW="6583680" imgH="329184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69899" y="1995777"/>
                        <a:ext cx="9722101" cy="48622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52E0252-9B95-589A-7C3A-A578C21FAFB3}"/>
              </a:ext>
            </a:extLst>
          </p:cNvPr>
          <p:cNvSpPr txBox="1"/>
          <p:nvPr/>
        </p:nvSpPr>
        <p:spPr>
          <a:xfrm>
            <a:off x="8865705" y="580445"/>
            <a:ext cx="2519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Simulated Data Results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0886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04B4-A019-62E4-2979-98FCD3C2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Data Results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F8FB7-8186-50A4-EE59-3F9E8EC76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Tmin</a:t>
            </a:r>
            <a:r>
              <a:rPr lang="en-US" dirty="0"/>
              <a:t> and </a:t>
            </a:r>
            <a:r>
              <a:rPr lang="en-US" dirty="0" err="1"/>
              <a:t>Tmax</a:t>
            </a:r>
            <a:r>
              <a:rPr lang="en-US" dirty="0"/>
              <a:t> quite well-estimated, </a:t>
            </a:r>
            <a:r>
              <a:rPr lang="en-US" dirty="0" err="1"/>
              <a:t>Tmin</a:t>
            </a:r>
            <a:r>
              <a:rPr lang="en-US" dirty="0"/>
              <a:t> less so</a:t>
            </a:r>
          </a:p>
          <a:p>
            <a:r>
              <a:rPr lang="en-US" dirty="0"/>
              <a:t>delta prior pulls posterior to lower values -&gt; increased Psi0</a:t>
            </a:r>
          </a:p>
          <a:p>
            <a:r>
              <a:rPr lang="en-US" dirty="0" err="1"/>
              <a:t>Topt</a:t>
            </a:r>
            <a:r>
              <a:rPr lang="en-US" dirty="0"/>
              <a:t> within or slightly higher, may be due to prior</a:t>
            </a:r>
          </a:p>
          <a:p>
            <a:r>
              <a:rPr lang="en-US" dirty="0"/>
              <a:t>sigma expected to be slightly higher to like Psi0 but surprisingly no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82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21101BD-8E28-74FB-B6B6-554899E3C5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995665"/>
              </p:ext>
            </p:extLst>
          </p:nvPr>
        </p:nvGraphicFramePr>
        <p:xfrm>
          <a:off x="0" y="67582"/>
          <a:ext cx="8686800" cy="4344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583680" imgH="3291840" progId="Acrobat.Document.DC">
                  <p:embed/>
                </p:oleObj>
              </mc:Choice>
              <mc:Fallback>
                <p:oleObj name="Acrobat Document" r:id="rId2" imgW="6583680" imgH="329184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67582"/>
                        <a:ext cx="8686800" cy="4344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BAE5F69-4A51-4D45-96A1-BC499639D4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794234"/>
              </p:ext>
            </p:extLst>
          </p:nvPr>
        </p:nvGraphicFramePr>
        <p:xfrm>
          <a:off x="2609439" y="2065565"/>
          <a:ext cx="9582561" cy="4792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6583680" imgH="3291840" progId="Acrobat.Document.DC">
                  <p:embed/>
                </p:oleObj>
              </mc:Choice>
              <mc:Fallback>
                <p:oleObj name="Acrobat Document" r:id="rId4" imgW="6583680" imgH="329184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09439" y="2065565"/>
                        <a:ext cx="9582561" cy="47924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240657F-0D6B-3E38-F2F1-5F0AA65E66BC}"/>
              </a:ext>
            </a:extLst>
          </p:cNvPr>
          <p:cNvSpPr txBox="1"/>
          <p:nvPr/>
        </p:nvSpPr>
        <p:spPr>
          <a:xfrm>
            <a:off x="8833900" y="636104"/>
            <a:ext cx="290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Simulated </a:t>
            </a:r>
            <a:r>
              <a:rPr lang="en-US" dirty="0" err="1"/>
              <a:t>Veraison</a:t>
            </a:r>
            <a:r>
              <a:rPr lang="en-US" dirty="0"/>
              <a:t> Results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3772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392D-2A04-A9BB-4B2E-2EECB6113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20A4-3661-CF2E-B6C6-F450904F4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</a:t>
            </a:r>
            <a:r>
              <a:rPr lang="en-US" dirty="0" err="1"/>
              <a:t>Veraison</a:t>
            </a:r>
            <a:r>
              <a:rPr lang="en-US" dirty="0"/>
              <a:t> Results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E089A-6661-FE64-A53E-5B5E063A4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Tmin</a:t>
            </a:r>
            <a:r>
              <a:rPr lang="en-US" dirty="0"/>
              <a:t> and </a:t>
            </a:r>
            <a:r>
              <a:rPr lang="en-US" dirty="0" err="1"/>
              <a:t>Tmax</a:t>
            </a:r>
            <a:r>
              <a:rPr lang="en-US" dirty="0"/>
              <a:t> are strongly informed by priors</a:t>
            </a:r>
          </a:p>
          <a:p>
            <a:r>
              <a:rPr lang="en-US" dirty="0"/>
              <a:t>Data informs variety-specific parameters better (more clustered samples) at expense of species-level parameters</a:t>
            </a:r>
          </a:p>
          <a:p>
            <a:r>
              <a:rPr lang="en-US" dirty="0"/>
              <a:t>delta prior still pulls to lower values -&gt; increased Psi0</a:t>
            </a:r>
          </a:p>
          <a:p>
            <a:r>
              <a:rPr lang="en-US" dirty="0"/>
              <a:t>Potential non-identifiability with only temperature on one side of </a:t>
            </a:r>
            <a:r>
              <a:rPr lang="en-US" dirty="0" err="1"/>
              <a:t>Topt</a:t>
            </a:r>
            <a:endParaRPr lang="en-US" dirty="0"/>
          </a:p>
          <a:p>
            <a:r>
              <a:rPr lang="en-US" dirty="0"/>
              <a:t>Multimodality issues as seen for fit with complete pooling approach and prior set 7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303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295A-701D-878C-B065-569D2562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FE6E77-99E1-8A7C-482D-11ECF5CCD91D}"/>
              </a:ext>
            </a:extLst>
          </p:cNvPr>
          <p:cNvSpPr txBox="1"/>
          <p:nvPr/>
        </p:nvSpPr>
        <p:spPr>
          <a:xfrm>
            <a:off x="8977849" y="859994"/>
            <a:ext cx="2635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fits on actual data</a:t>
            </a:r>
            <a:endParaRPr lang="en-CA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E3B16F7-041F-2973-E12C-0AA0DCC436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280764"/>
              </p:ext>
            </p:extLst>
          </p:nvPr>
        </p:nvGraphicFramePr>
        <p:xfrm>
          <a:off x="0" y="0"/>
          <a:ext cx="8729932" cy="4366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583680" imgH="3291840" progId="Acrobat.Document.DC">
                  <p:embed/>
                </p:oleObj>
              </mc:Choice>
              <mc:Fallback>
                <p:oleObj name="Acrobat Document" r:id="rId2" imgW="6583680" imgH="329184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8729932" cy="43660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B14584B-A32D-BB50-6E45-5DF40C224D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740642"/>
              </p:ext>
            </p:extLst>
          </p:nvPr>
        </p:nvGraphicFramePr>
        <p:xfrm>
          <a:off x="2656936" y="2089320"/>
          <a:ext cx="9535064" cy="4768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6583680" imgH="3291840" progId="Acrobat.Document.DC">
                  <p:embed/>
                </p:oleObj>
              </mc:Choice>
              <mc:Fallback>
                <p:oleObj name="Acrobat Document" r:id="rId4" imgW="6583680" imgH="329184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56936" y="2089320"/>
                        <a:ext cx="9535064" cy="4768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116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307FF-9666-444E-6256-B6724E6E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AFB2C-85D0-04B8-5F70-0E965EF87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 Data Results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3A6C5-4282-8A5A-3DDB-FB1EF9191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Tmin</a:t>
            </a:r>
            <a:r>
              <a:rPr lang="en-US" dirty="0"/>
              <a:t> and </a:t>
            </a:r>
            <a:r>
              <a:rPr lang="en-US" dirty="0" err="1"/>
              <a:t>Tmax</a:t>
            </a:r>
            <a:r>
              <a:rPr lang="en-US" dirty="0"/>
              <a:t> are still strongly informed by priors</a:t>
            </a:r>
          </a:p>
          <a:p>
            <a:r>
              <a:rPr lang="en-US" dirty="0"/>
              <a:t>delta prior pulls posterior to higher values -&gt; lower forcing</a:t>
            </a:r>
          </a:p>
          <a:p>
            <a:r>
              <a:rPr lang="en-US" dirty="0"/>
              <a:t>Increased (</a:t>
            </a:r>
            <a:r>
              <a:rPr lang="en-US" dirty="0" err="1"/>
              <a:t>Tmax</a:t>
            </a:r>
            <a:r>
              <a:rPr lang="en-US" dirty="0"/>
              <a:t> – </a:t>
            </a:r>
            <a:r>
              <a:rPr lang="en-US" dirty="0" err="1"/>
              <a:t>Tmin</a:t>
            </a:r>
            <a:r>
              <a:rPr lang="en-US" dirty="0"/>
              <a:t>) -&gt; higher forcing</a:t>
            </a:r>
          </a:p>
          <a:p>
            <a:r>
              <a:rPr lang="en-US" dirty="0" err="1"/>
              <a:t>Topt</a:t>
            </a:r>
            <a:r>
              <a:rPr lang="en-US" dirty="0"/>
              <a:t> estimates are within 1 </a:t>
            </a:r>
            <a:r>
              <a:rPr lang="en-US" dirty="0" err="1"/>
              <a:t>degC</a:t>
            </a:r>
            <a:r>
              <a:rPr lang="en-US" dirty="0"/>
              <a:t> (2 </a:t>
            </a:r>
            <a:r>
              <a:rPr lang="en-US" dirty="0" err="1"/>
              <a:t>degC</a:t>
            </a:r>
            <a:r>
              <a:rPr lang="en-US" dirty="0"/>
              <a:t> across NP and PP), pooled by hierarchy</a:t>
            </a:r>
          </a:p>
          <a:p>
            <a:r>
              <a:rPr lang="en-US" dirty="0"/>
              <a:t>Need some temperature data closer to extremes, not necessarily constant as shown by simulated data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171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1155</Words>
  <Application>Microsoft Office PowerPoint</Application>
  <PresentationFormat>Widescreen</PresentationFormat>
  <Paragraphs>139</Paragraphs>
  <Slides>22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Acrobat Document</vt:lpstr>
      <vt:lpstr>Adobe Acrobat Document</vt:lpstr>
      <vt:lpstr>Grapevine Phenology Modeling</vt:lpstr>
      <vt:lpstr>Common grapevine growing stages</vt:lpstr>
      <vt:lpstr>PowerPoint Presentation</vt:lpstr>
      <vt:lpstr>Grapevine Flowering Veraison (GFV model)</vt:lpstr>
      <vt:lpstr>Wang &amp; Engel (WE)-based model</vt:lpstr>
      <vt:lpstr>Wang &amp; Engel (WE)-based model</vt:lpstr>
      <vt:lpstr>Modeling changes in phenological stages</vt:lpstr>
      <vt:lpstr>Survival function (S(t))</vt:lpstr>
      <vt:lpstr>Hazard function (lambda(t))</vt:lpstr>
      <vt:lpstr>Survival model</vt:lpstr>
      <vt:lpstr>Event density function (pi(t))</vt:lpstr>
      <vt:lpstr>Smoothed Wang &amp; Engel (SWE) function</vt:lpstr>
      <vt:lpstr>Model specification</vt:lpstr>
      <vt:lpstr>Pooling approaches</vt:lpstr>
      <vt:lpstr>Prior sets</vt:lpstr>
      <vt:lpstr>Checking model behaviour on simulated data</vt:lpstr>
      <vt:lpstr>PowerPoint Presentation</vt:lpstr>
      <vt:lpstr>Simulated Data Results</vt:lpstr>
      <vt:lpstr>PowerPoint Presentation</vt:lpstr>
      <vt:lpstr>Simulated Veraison Results</vt:lpstr>
      <vt:lpstr>PowerPoint Presentation</vt:lpstr>
      <vt:lpstr>Actual Data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ksamso01@student.ubc.ca</dc:creator>
  <cp:lastModifiedBy>ksamso01@student.ubc.ca</cp:lastModifiedBy>
  <cp:revision>151</cp:revision>
  <dcterms:created xsi:type="dcterms:W3CDTF">2025-07-15T19:27:57Z</dcterms:created>
  <dcterms:modified xsi:type="dcterms:W3CDTF">2025-12-08T20:54:53Z</dcterms:modified>
</cp:coreProperties>
</file>